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39517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Bookman Old Style" panose="02050604050505020204" pitchFamily="18" charset="0"/>
              </a:rP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Identify where the business is growing profitably and where value is being lost.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Focus: category performance, discounting, markets, segments and shipping.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Working copy: 51,290 transaction rows and 24 source columns.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526280"/>
            <a:ext cx="16916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TRANSACTIONS</a:t>
            </a:r>
          </a:p>
        </p:txBody>
      </p:sp>
      <p:sp>
        <p:nvSpPr>
          <p:cNvPr id="5" name="Chevron 4"/>
          <p:cNvSpPr/>
          <p:nvPr/>
        </p:nvSpPr>
        <p:spPr>
          <a:xfrm>
            <a:off x="2258568" y="4709160"/>
            <a:ext cx="347472" cy="256032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07208" y="4526280"/>
            <a:ext cx="16916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PRODUCTS</a:t>
            </a:r>
          </a:p>
        </p:txBody>
      </p:sp>
      <p:sp>
        <p:nvSpPr>
          <p:cNvPr id="7" name="Chevron 6"/>
          <p:cNvSpPr/>
          <p:nvPr/>
        </p:nvSpPr>
        <p:spPr>
          <a:xfrm>
            <a:off x="4562856" y="4709160"/>
            <a:ext cx="347472" cy="256032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11496" y="4526280"/>
            <a:ext cx="16916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DISCOUNTS</a:t>
            </a:r>
          </a:p>
        </p:txBody>
      </p:sp>
      <p:sp>
        <p:nvSpPr>
          <p:cNvPr id="9" name="Chevron 8"/>
          <p:cNvSpPr/>
          <p:nvPr/>
        </p:nvSpPr>
        <p:spPr>
          <a:xfrm>
            <a:off x="6867144" y="4709160"/>
            <a:ext cx="347472" cy="256032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15784" y="4526280"/>
            <a:ext cx="16916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MARKETS</a:t>
            </a:r>
          </a:p>
        </p:txBody>
      </p:sp>
      <p:sp>
        <p:nvSpPr>
          <p:cNvPr id="11" name="Chevron 10"/>
          <p:cNvSpPr/>
          <p:nvPr/>
        </p:nvSpPr>
        <p:spPr>
          <a:xfrm>
            <a:off x="9171432" y="4709160"/>
            <a:ext cx="347472" cy="256032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20072" y="4526280"/>
            <a:ext cx="16916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Business lens: Revenue → Margin →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44646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Bookman Old Style" panose="02050604050505020204" pitchFamily="18" charset="0"/>
              </a:rPr>
              <a:t>2. 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Public source plan: Global Superstore dataset on Kaggle.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Python: Pandas + NumPy for cleaning, feature engineering and aggregation.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Created Delivery Days, Profit Margin, Discount Band, Profit Status, Year/Month/Quarter and an outlier flag.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Postal Code was excluded from analysis because it is incomplete and not required for the management questions.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5166360"/>
            <a:ext cx="566928" cy="5669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23951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/>
            </a:pPr>
            <a:r>
              <a:t>CLEAN</a:t>
            </a:r>
          </a:p>
        </p:txBody>
      </p:sp>
      <p:sp>
        <p:nvSpPr>
          <p:cNvPr id="6" name="Chevron 5"/>
          <p:cNvSpPr/>
          <p:nvPr/>
        </p:nvSpPr>
        <p:spPr>
          <a:xfrm>
            <a:off x="2331720" y="5321808"/>
            <a:ext cx="320040" cy="201168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807208" y="5166360"/>
            <a:ext cx="566928" cy="5669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5576" y="523951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/>
            </a:pPr>
            <a:r>
              <a:t>CALCULATE</a:t>
            </a:r>
          </a:p>
        </p:txBody>
      </p:sp>
      <p:sp>
        <p:nvSpPr>
          <p:cNvPr id="9" name="Chevron 8"/>
          <p:cNvSpPr/>
          <p:nvPr/>
        </p:nvSpPr>
        <p:spPr>
          <a:xfrm>
            <a:off x="4636008" y="5321808"/>
            <a:ext cx="320040" cy="201168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11496" y="5166360"/>
            <a:ext cx="566928" cy="5669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864" y="523951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/>
            </a:pPr>
            <a:r>
              <a:t>COMPARE</a:t>
            </a:r>
          </a:p>
        </p:txBody>
      </p:sp>
      <p:sp>
        <p:nvSpPr>
          <p:cNvPr id="12" name="Chevron 11"/>
          <p:cNvSpPr/>
          <p:nvPr/>
        </p:nvSpPr>
        <p:spPr>
          <a:xfrm>
            <a:off x="6940296" y="5321808"/>
            <a:ext cx="320040" cy="201168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15784" y="5166360"/>
            <a:ext cx="566928" cy="5669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523951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/>
            </a:pPr>
            <a:r>
              <a:t>EXPLAIN</a:t>
            </a:r>
          </a:p>
        </p:txBody>
      </p:sp>
      <p:sp>
        <p:nvSpPr>
          <p:cNvPr id="15" name="Chevron 14"/>
          <p:cNvSpPr/>
          <p:nvPr/>
        </p:nvSpPr>
        <p:spPr>
          <a:xfrm>
            <a:off x="9244584" y="5321808"/>
            <a:ext cx="320040" cy="201168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720072" y="5166360"/>
            <a:ext cx="566928" cy="5669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523951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/>
            </a:pPr>
            <a:r>
              <a:t>RECOMMEND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31197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Bookman Old Style" panose="02050604050505020204" pitchFamily="18" charset="0"/>
              </a:rPr>
              <a:t>3.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Sales: 46.9M; Profit: 4.5M; overall margin: 9.7%.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Technology is the largest sales and profit category.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Furniture generates about 10.8M sales but only about 1.9% margin.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30%+ discounts are loss-making in the working copy.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3434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46.9M</a:t>
            </a:r>
          </a:p>
          <a:p>
            <a:pPr algn="ctr">
              <a:defRPr sz="1100"/>
            </a:pPr>
            <a:r>
              <a:t>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43434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4.5M</a:t>
            </a:r>
          </a:p>
          <a:p>
            <a:pPr algn="ctr">
              <a:defRPr sz="1100"/>
            </a:pPr>
            <a:r>
              <a:t>Profit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43434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9.7%</a:t>
            </a:r>
          </a:p>
          <a:p>
            <a:pPr algn="ctr">
              <a:defRPr sz="1100"/>
            </a:pPr>
            <a:r>
              <a:t>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43434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17.5%</a:t>
            </a:r>
          </a:p>
          <a:p>
            <a:pPr algn="ctr">
              <a:defRPr sz="1100"/>
            </a:pPr>
            <a:r>
              <a:t>Loss Rows</a:t>
            </a:r>
          </a:p>
        </p:txBody>
      </p:sp>
      <p:pic>
        <p:nvPicPr>
          <p:cNvPr id="8" name="Picture 7" descr="category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880360"/>
            <a:ext cx="2743200" cy="1504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39982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Bookman Old Style" panose="02050604050505020204" pitchFamily="18" charset="0"/>
              </a:rPr>
              <a:t>4. Deep-Dive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Discounting and profitability move in opposite directions in the working copy.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0–10% discount margin is about 18.5%; 20–30% is about 3.2%; 30%+ is about -9.0%.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This indicates a clear commercial-control opportunity.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The data is observational, so the result should be validated with controlled discount tests.</a:t>
            </a:r>
          </a:p>
        </p:txBody>
      </p:sp>
      <p:pic>
        <p:nvPicPr>
          <p:cNvPr id="4" name="Picture 3" descr="discount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0"/>
            <a:ext cx="5486400" cy="3008671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6446520" y="4160520"/>
            <a:ext cx="4297680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DEEPER DISCOUNT → HIGHER PROFIT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41408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Bookman Old Style" panose="02050604050505020204" pitchFamily="18" charset="0"/>
              </a:rPr>
              <a:t>5.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1. Require approval for 30%+ discounts and test lower discount thresholds.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2. Run a Furniture margin-recovery program covering pricing, assortment and discount discipline.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3. Study Canada’s high-margin operating pattern and test similar tactics in selected markets.</a:t>
            </a:r>
          </a:p>
        </p:txBody>
      </p:sp>
      <p:pic>
        <p:nvPicPr>
          <p:cNvPr id="4" name="Picture 3" descr="market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69080"/>
            <a:ext cx="5303520" cy="2908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Opportunity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60520"/>
            <a:ext cx="22860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CANADA</a:t>
            </a:r>
          </a:p>
          <a:p>
            <a:r>
              <a:t>High margin / smaller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4160520"/>
            <a:ext cx="22860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TECHNOLOGY</a:t>
            </a:r>
          </a:p>
          <a:p>
            <a:r>
              <a:t>High profit /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166360"/>
            <a:ext cx="22860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FURNITURE</a:t>
            </a:r>
          </a:p>
          <a:p>
            <a:r>
              <a:t>High sales / low margin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5803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Bookman Old Style" panose="02050604050505020204" pitchFamily="18" charset="0"/>
              </a:rPr>
              <a:t>6. 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Lower loss-order rate and higher profit margin.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Higher Furniture profitability without relying only on revenue growth.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More profitable expansion in smaller high-margin markets.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Measure: Profit Margin, Loss Order %, Sales, Profit, Discount Rate and market-level incremental profit.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862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813048"/>
            <a:ext cx="47548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CONTROL DEEP DISCOUNTS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3886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/>
            </a:pPr>
            <a:r>
              <a:t>HIGH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3886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/>
            </a:pPr>
            <a:r>
              <a:t>Sales +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498848"/>
            <a:ext cx="47548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RECOVER FURNITURE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4572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/>
            </a:pPr>
            <a:r>
              <a:t>HIGH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572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/>
            </a:pPr>
            <a:r>
              <a:t>Category +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184648"/>
            <a:ext cx="47548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TEST HIGH-MARGIN PLAYBOOKS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/>
            </a:pPr>
            <a:r>
              <a:t>MEDIUM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5257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/>
            </a:pPr>
            <a:r>
              <a:t>Regional Sales +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367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Bookman Old Style" panose="02050604050505020204" pitchFamily="18" charset="0"/>
              </a:rPr>
              <a:t>7.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Descriptive analysis does not establish causality.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No CAC, inventory cost or competitor pricing is available.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Postal Code is incomplete and excluded.</a:t>
            </a:r>
          </a:p>
          <a:p>
            <a:pPr>
              <a:spcAft>
                <a:spcPts val="1200"/>
              </a:spcAft>
              <a:defRPr sz="2000"/>
            </a:pPr>
            <a:r>
              <a:rPr sz="2400" dirty="0">
                <a:latin typeface="Aparajita" panose="02020603050405020304" pitchFamily="18" charset="0"/>
                <a:cs typeface="Aparajita" panose="02020603050405020304" pitchFamily="18" charset="0"/>
              </a:rPr>
              <a:t>Next: replace the practice copy with the official public file, publish the live Looker Studio dashboard and run controlled discount pilots.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86200"/>
            <a:ext cx="16002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TEST</a:t>
            </a:r>
          </a:p>
        </p:txBody>
      </p:sp>
      <p:sp>
        <p:nvSpPr>
          <p:cNvPr id="5" name="Chevron 4"/>
          <p:cNvSpPr/>
          <p:nvPr/>
        </p:nvSpPr>
        <p:spPr>
          <a:xfrm>
            <a:off x="2423160" y="4087368"/>
            <a:ext cx="457200" cy="228600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0" y="3886200"/>
            <a:ext cx="16002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MEASURE</a:t>
            </a:r>
          </a:p>
        </p:txBody>
      </p:sp>
      <p:sp>
        <p:nvSpPr>
          <p:cNvPr id="7" name="Chevron 6"/>
          <p:cNvSpPr/>
          <p:nvPr/>
        </p:nvSpPr>
        <p:spPr>
          <a:xfrm>
            <a:off x="5166360" y="4087368"/>
            <a:ext cx="457200" cy="228600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16002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LEARN</a:t>
            </a:r>
          </a:p>
        </p:txBody>
      </p:sp>
      <p:sp>
        <p:nvSpPr>
          <p:cNvPr id="9" name="Chevron 8"/>
          <p:cNvSpPr/>
          <p:nvPr/>
        </p:nvSpPr>
        <p:spPr>
          <a:xfrm>
            <a:off x="7909560" y="4087368"/>
            <a:ext cx="457200" cy="228600"/>
          </a:xfrm>
          <a:prstGeom prst="chevron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0" y="3886200"/>
            <a:ext cx="16002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rPr dirty="0"/>
              <a:t>Success metrics: Profit Margin • Loss Order % • Sales • Profit • Discount Rate • Incremental Market Profit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482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Aparajita</vt:lpstr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Arjun Kasana</dc:creator>
  <cp:keywords/>
  <dc:description>generated using python-pptx</dc:description>
  <cp:lastModifiedBy>Alpha Arjun</cp:lastModifiedBy>
  <cp:revision>2</cp:revision>
  <dcterms:created xsi:type="dcterms:W3CDTF">2013-01-27T09:14:16Z</dcterms:created>
  <dcterms:modified xsi:type="dcterms:W3CDTF">2026-09-11T14:52:59Z</dcterms:modified>
  <cp:category/>
</cp:coreProperties>
</file>